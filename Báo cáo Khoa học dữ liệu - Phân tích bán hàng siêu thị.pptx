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66" r:id="rId14"/>
    <p:sldId id="272" r:id="rId15"/>
    <p:sldId id="273" r:id="rId16"/>
    <p:sldId id="267" r:id="rId17"/>
    <p:sldId id="268" r:id="rId18"/>
    <p:sldId id="269" r:id="rId19"/>
  </p:sldIdLst>
  <p:sldSz cx="12192000" cy="6858000"/>
  <p:notesSz cx="6858000" cy="9144000"/>
  <p:embeddedFontLst>
    <p:embeddedFont>
      <p:font typeface="Merriweather" panose="00000500000000000000" pitchFamily="2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Light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66EDC3-4596-4D81-9E7D-FE5088977B1F}">
  <a:tblStyle styleId="{4566EDC3-4596-4D81-9E7D-FE5088977B1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296" y="-25856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78308" y="1397121"/>
            <a:ext cx="1160145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ĐỀ TÀI:</a:t>
            </a: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PHÂN TÍCH DỮ LIỆU</a:t>
            </a:r>
            <a:b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BÁN HÀNG SIÊU THỊ</a:t>
            </a:r>
            <a:endParaRPr sz="320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78308" y="258562"/>
            <a:ext cx="1104900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Môn </a:t>
            </a:r>
            <a:r>
              <a:rPr lang="en-US" sz="4400" b="0" i="0" u="none" strike="noStrike" cap="none" dirty="0" err="1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học</a:t>
            </a:r>
            <a:r>
              <a:rPr lang="en-US" sz="4400" b="0" i="0" u="none" strike="noStrike" cap="none" dirty="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: Khoa </a:t>
            </a:r>
            <a:r>
              <a:rPr lang="en-US" sz="4400" b="0" i="0" u="none" strike="noStrike" cap="none" dirty="0" err="1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học</a:t>
            </a:r>
            <a:r>
              <a:rPr lang="en-US" sz="4400" b="0" i="0" u="none" strike="noStrike" cap="none" dirty="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-US" sz="4400" b="0" i="0" u="none" strike="noStrike" cap="none" dirty="0" err="1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dữ</a:t>
            </a:r>
            <a:r>
              <a:rPr lang="en-US" sz="4400" b="0" i="0" u="none" strike="noStrike" cap="none" dirty="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-US" sz="4400" b="0" i="0" u="none" strike="noStrike" cap="none" dirty="0" err="1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liệu</a:t>
            </a:r>
            <a:endParaRPr lang="en-US" sz="440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-986790" y="2535680"/>
            <a:ext cx="11049000" cy="2196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Sinh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viên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Triệu Trà My </a:t>
            </a:r>
            <a:endParaRPr lang="en-US" sz="2000" dirty="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Lớp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:K58KTP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MSSV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K225480106102</a:t>
            </a:r>
            <a:endParaRPr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FB91A-C2BE-4FCA-7BA7-BB11D5B42324}"/>
              </a:ext>
            </a:extLst>
          </p:cNvPr>
          <p:cNvSpPr txBox="1"/>
          <p:nvPr/>
        </p:nvSpPr>
        <p:spPr>
          <a:xfrm>
            <a:off x="3125343" y="2614706"/>
            <a:ext cx="6611112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GV </a:t>
            </a:r>
            <a:r>
              <a:rPr lang="en-US" sz="2400" dirty="0" err="1"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hướng</a:t>
            </a:r>
            <a:r>
              <a:rPr lang="en-US" sz="2400" dirty="0"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dẫn</a:t>
            </a:r>
            <a:r>
              <a:rPr lang="en-US" sz="2400" dirty="0"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: Ts. Nguyễn Văn Huy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295275" y="571500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CHƯƠNG 1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1628775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TỔNG QUAN VỀ ĐỀ TÀI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764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Lý do chọn đề tài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000125" y="2128837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Sự bùng nổ dữ liệu: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Ngành bán lẻ tạo ra lượng dữ liệu khổng lồ từ giao dịch hằng ngày.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00125" y="3037284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Nhu cầu khai thác: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Việc hiểu rõ hành vi khách hàng và xu hướng tiêu dùng giúp doanh nghiệp ra quyết định chính xác.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00125" y="428089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Công nghệ hiện đại: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Ứng dụng Học máy để vượt qua rào cản của các phương pháp phân tích truyền thống.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7170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8014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23754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95735"/>
            <a:ext cx="5381625" cy="2310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595735"/>
            <a:ext cx="5381625" cy="2310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91892"/>
            <a:ext cx="5381625" cy="1975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191892"/>
            <a:ext cx="5381625" cy="197524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Mục tiêu nghiên cứu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1891010"/>
            <a:ext cx="503062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Phân tích EDA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2395835"/>
            <a:ext cx="47910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Khám phá đặc trưng dữ liệu, doanh thu theo nhóm sản phẩm, khu vực và xu hướng thời gian thông qua trực quan hóa.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534150" y="1891010"/>
            <a:ext cx="503062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Học máy có giám sát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534150" y="2395835"/>
            <a:ext cx="47910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Sử dụng thuật toán Random Forest để dự đoán doanh thu và mức độ hài lòng (rating) của khách hàng.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66775" y="4487167"/>
            <a:ext cx="503062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Học máy không giám sát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66775" y="4991992"/>
            <a:ext cx="47910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Ứng dụng K-Means Clustering để phân cụm khách hàng dựa trên hành vi mua sắm tương đồng.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534150" y="4487167"/>
            <a:ext cx="503062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Hỗ trợ quyết định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534150" y="4991992"/>
            <a:ext cx="47910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Đưa ra các đề xuất chiến lược dựa trên kết quả phân tích định lượng thực tế.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191958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191958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451574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34150" y="4515742"/>
            <a:ext cx="1714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295275" y="571500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CHƯƠNG 2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1628775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CƠ SỞ LÝ THUYẾT VÀ TRIỂN KHAI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64518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Thuật toán Rừng ngẫu nhiên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1864518"/>
            <a:ext cx="56007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Cơ</a:t>
            </a:r>
            <a:r>
              <a:rPr lang="en-US" sz="16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6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chế</a:t>
            </a:r>
            <a:r>
              <a:rPr lang="en-US" sz="16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Ensemble Learning</a:t>
            </a:r>
            <a:endParaRPr sz="1600"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293143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Kết hợp nhiều cây quyết định (Decision Trees) để đưa ra dự đoán cuối cùng.</a:t>
            </a:r>
            <a:endParaRPr/>
          </a:p>
        </p:txBody>
      </p:sp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64518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000125" y="3173015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Bagging: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Lấy mẫu ngẫu nhiên có hoàn lại từ tập dữ liệu gốc.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00125" y="408146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Giảm Overfitting: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Tăng tính khái quát hóa cho mô hình dự đoán kinh doanh.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00125" y="4989909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Bỏ</a:t>
            </a:r>
            <a:r>
              <a:rPr lang="en-US" sz="1650" b="1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1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phiếu</a:t>
            </a:r>
            <a:r>
              <a:rPr lang="en-US" sz="1650" b="1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Kết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quả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là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đa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số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phiếu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phân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loại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hoặc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trung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bình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hồi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 b="0" i="0" u="none" strike="noStrike" cap="none" dirty="0" err="1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quy</a:t>
            </a:r>
            <a:r>
              <a:rPr lang="en-US" sz="1650" b="0" i="0" u="none" strike="noStrike" cap="none" dirty="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64518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Phân cụm K-Means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1864518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Phân nhóm dựa trên khoảng cách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2293143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Tự động nhóm khách hàng có đặc điểm hành vi tương đồng (RFM).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64518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1000125" y="3173015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Tâm cụm (Centroids):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Tối ưu hóa vị trí trung bình của các nhóm.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000125" y="408146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Khoảng cách Euclidean: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Đo lường sự khác biệt giữa các thực thể dữ liệu.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000125" y="4989909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Ứng dụng: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Phân khúc khách hàng VIP, khách hàng mới và khách hàng rời bỏ.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295275" y="571500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CHƯƠNG 3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1628775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KIỂM THỬ VÀ ĐÁNH GIÁ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95875"/>
            <a:ext cx="11049000" cy="167997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Biến động doanh thu &amp; lợi nhuận</a:t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866775" y="5600700"/>
            <a:ext cx="10458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Nhận xét: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Doanh thu tăng trưởng ổn định từ 2014-2017. Có tính chu kỳ rõ rệt, bùng nổ vào các tháng cuối năm (mùa lễ hội) và sụt giảm vào đầu năm sau Tết.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D19EAC-66A2-4F84-2A43-52E781021A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472" y="1637347"/>
            <a:ext cx="8348472" cy="3583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Xếp</a:t>
            </a:r>
            <a:r>
              <a:rPr lang="en-US" sz="33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hạng</a:t>
            </a:r>
            <a:r>
              <a:rPr lang="en-US" sz="33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lợi</a:t>
            </a:r>
            <a:r>
              <a:rPr lang="en-US" sz="33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nhuận</a:t>
            </a:r>
            <a:r>
              <a:rPr lang="en-US" sz="33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theo</a:t>
            </a:r>
            <a:r>
              <a:rPr lang="en-US" sz="33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00" b="1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từng</a:t>
            </a:r>
            <a:r>
              <a:rPr lang="en-US" sz="330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00" b="1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nhóm</a:t>
            </a:r>
            <a:r>
              <a:rPr lang="en-US" sz="330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00" b="1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sản</a:t>
            </a:r>
            <a:r>
              <a:rPr lang="en-US" sz="330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00" b="1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phẩm</a:t>
            </a:r>
            <a:endParaRPr dirty="0"/>
          </a:p>
        </p:txBody>
      </p:sp>
      <p:sp>
        <p:nvSpPr>
          <p:cNvPr id="197" name="Google Shape;197;p22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595312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* Nhóm Đồ nội thất (Bàn, Kệ sách) đang gây gánh nặng lỗ lớn do chi phí vận chuyển và lưu kho cao.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86DC2-62B3-8FDF-8067-FDD2074660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6" y="1234440"/>
            <a:ext cx="7589520" cy="4279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C9344A-75F1-7303-B990-C6B31B9F95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264" y="1325881"/>
            <a:ext cx="7452360" cy="38947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B48F3C-1863-43FA-22AE-78F5B7A9ABFB}"/>
              </a:ext>
            </a:extLst>
          </p:cNvPr>
          <p:cNvSpPr txBox="1"/>
          <p:nvPr/>
        </p:nvSpPr>
        <p:spPr>
          <a:xfrm>
            <a:off x="1145286" y="45876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So </a:t>
            </a:r>
            <a:r>
              <a:rPr lang="en-US" sz="1800" b="1" dirty="0" err="1">
                <a:solidFill>
                  <a:srgbClr val="003366"/>
                </a:solidFill>
                <a:latin typeface="Merriweather"/>
                <a:sym typeface="Merriweather"/>
              </a:rPr>
              <a:t>sánh</a:t>
            </a: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rgbClr val="003366"/>
                </a:solidFill>
                <a:latin typeface="Merriweather"/>
                <a:sym typeface="Merriweather"/>
              </a:rPr>
              <a:t>doanh</a:t>
            </a: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rgbClr val="003366"/>
                </a:solidFill>
                <a:latin typeface="Merriweather"/>
                <a:sym typeface="Merriweather"/>
              </a:rPr>
              <a:t>thu</a:t>
            </a: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rgbClr val="003366"/>
                </a:solidFill>
                <a:latin typeface="Merriweather"/>
                <a:sym typeface="Merriweather"/>
              </a:rPr>
              <a:t>và</a:t>
            </a: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rgbClr val="003366"/>
                </a:solidFill>
                <a:latin typeface="Merriweather"/>
                <a:sym typeface="Merriweather"/>
              </a:rPr>
              <a:t>lợi</a:t>
            </a: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rgbClr val="003366"/>
                </a:solidFill>
                <a:latin typeface="Merriweather"/>
                <a:sym typeface="Merriweather"/>
              </a:rPr>
              <a:t>nhuận</a:t>
            </a: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rgbClr val="003366"/>
                </a:solidFill>
                <a:latin typeface="Merriweather"/>
                <a:sym typeface="Merriweather"/>
              </a:rPr>
              <a:t>giữa</a:t>
            </a: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rgbClr val="003366"/>
                </a:solidFill>
                <a:latin typeface="Merriweather"/>
                <a:sym typeface="Merriweather"/>
              </a:rPr>
              <a:t>các</a:t>
            </a: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rgbClr val="003366"/>
                </a:solidFill>
                <a:latin typeface="Merriweather"/>
                <a:sym typeface="Merriweather"/>
              </a:rPr>
              <a:t>khu</a:t>
            </a: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rgbClr val="003366"/>
                </a:solidFill>
                <a:latin typeface="Merriweather"/>
                <a:sym typeface="Merriweather"/>
              </a:rPr>
              <a:t>vực</a:t>
            </a:r>
            <a:r>
              <a:rPr lang="en-US" sz="18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1972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E01E-5305-DCBF-EED9-9BD15655B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1897"/>
            <a:ext cx="7772400" cy="1470025"/>
          </a:xfrm>
        </p:spPr>
        <p:txBody>
          <a:bodyPr/>
          <a:lstStyle/>
          <a:p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1083E-A0D6-5A8C-C11D-D9187286E2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3B55D-B791-8D26-7B10-DB49CAFC0E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16" y="1831657"/>
            <a:ext cx="9162288" cy="43496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6722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Phân khúc khách hàng (K-Means)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71500" y="2471737"/>
            <a:ext cx="11049000" cy="2819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23"/>
          <p:cNvGraphicFramePr/>
          <p:nvPr/>
        </p:nvGraphicFramePr>
        <p:xfrm>
          <a:off x="571500" y="2471737"/>
          <a:ext cx="11049000" cy="2819375"/>
        </p:xfrm>
        <a:graphic>
          <a:graphicData uri="http://schemas.openxmlformats.org/drawingml/2006/table">
            <a:tbl>
              <a:tblPr firstRow="1" bandRow="1">
                <a:noFill/>
                <a:tableStyleId>{4566EDC3-4596-4D81-9E7D-FE5088977B1F}</a:tableStyleId>
              </a:tblPr>
              <a:tblGrid>
                <a:gridCol w="175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Nhóm (Cụm)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Đặc trưng hành vi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Quy mô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Đề xuất chiến lược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Khách VIP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Mua thường xuyên, chi tiêu cao nhất (~$4,773)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Thẻ ưu đãi đặc quyền, tri ân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Khách Mới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Vừa tương tác gần đây, tiềm năng lớn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Khuyến mãi chéo, giới thiệu SP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Cần thúc đẩy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Từng mua nhiều nhưng đã lâu chưa quay lại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Gửi Voucher "Nhắc lịch mua sắm"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Nguy cơ rời bỏ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Ít mua, chi tiêu thấp, đã lâu không quay lại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Tiếp cận tự động chi phí thấp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8" name="Google Shape;208;p23"/>
          <p:cNvSpPr/>
          <p:nvPr/>
        </p:nvSpPr>
        <p:spPr>
          <a:xfrm>
            <a:off x="571500" y="3619500"/>
            <a:ext cx="1754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2326183" y="3619500"/>
            <a:ext cx="46300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6956226" y="3619500"/>
            <a:ext cx="12226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8178849" y="3619500"/>
            <a:ext cx="344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71500" y="4171950"/>
            <a:ext cx="1754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2326183" y="4171950"/>
            <a:ext cx="46300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6956226" y="4171950"/>
            <a:ext cx="12226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8178849" y="4171950"/>
            <a:ext cx="344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571500" y="4724400"/>
            <a:ext cx="1754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2326183" y="4724400"/>
            <a:ext cx="46300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6956226" y="4724400"/>
            <a:ext cx="12226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8178849" y="4724400"/>
            <a:ext cx="344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571500" y="5276850"/>
            <a:ext cx="1754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2326183" y="5276850"/>
            <a:ext cx="46300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6956226" y="5276850"/>
            <a:ext cx="12226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8178849" y="5276850"/>
            <a:ext cx="344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B8983-68D9-E4A5-8AFA-4EC6984EB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872" y="1554480"/>
            <a:ext cx="6493827" cy="33558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2F8317-8C27-1A39-206C-34E45E3A994A}"/>
              </a:ext>
            </a:extLst>
          </p:cNvPr>
          <p:cNvSpPr txBox="1"/>
          <p:nvPr/>
        </p:nvSpPr>
        <p:spPr>
          <a:xfrm>
            <a:off x="925830" y="59592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Đặc</a:t>
            </a:r>
            <a:r>
              <a:rPr lang="en-US" sz="2400" dirty="0"/>
              <a:t> </a:t>
            </a:r>
            <a:r>
              <a:rPr lang="en-US" sz="2400" dirty="0" err="1"/>
              <a:t>trưng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nhóm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1181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2004E-8D5A-82D6-906A-D13719B89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492" y="201041"/>
            <a:ext cx="7772400" cy="1470025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90DDB-3DF5-F4E8-FBC6-6B5A85E24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4E24F-0F43-E924-8100-30DE35BF1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64" y="1572831"/>
            <a:ext cx="9070848" cy="4919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84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Đánh giá hiệu năng học máy</a:t>
            </a: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685800" y="2938462"/>
            <a:ext cx="50673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87.14%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685800" y="4462462"/>
            <a:ext cx="5067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Độ chính xác tổng thể (Accuracy)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5981700" y="2816721"/>
            <a:ext cx="58007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Các yếu tố ảnh hưởng lợi nhuận: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6410325" y="3226296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Doanh số (Sales):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62.06% (Quan trọng nhất)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6410325" y="379958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Giảm giá (Discount):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21.93% (Ảnh hưởng mạnh)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6410325" y="4372867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Số lượng (Quantity):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7.74%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295275" y="571500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CHƯƠNG 4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571500" y="1628775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KẾT LUẬN VÀ KIẾN NGHỊ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764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Kết luận tổng quát</a:t>
            </a:r>
            <a:endParaRPr/>
          </a:p>
        </p:txBody>
      </p:sp>
      <p:sp>
        <p:nvSpPr>
          <p:cNvPr id="252" name="Google Shape;252;p26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764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6"/>
          <p:cNvSpPr txBox="1"/>
          <p:nvPr/>
        </p:nvSpPr>
        <p:spPr>
          <a:xfrm>
            <a:off x="1000125" y="2128837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Sản phẩm chủ lực: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Thực phẩm, Phụ kiện điện tử đóng góp doanh thu lớn nhất.</a:t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1000125" y="3037284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Cảnh báo giảm giá: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Việc giảm giá &gt;20% khiến lợi nhuận lao dốc không phanh.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1000125" y="394573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Phân đoạn khách hàng:</a:t>
            </a:r>
            <a:r>
              <a:rPr lang="en-US" sz="1650" b="0" i="0" u="none" strike="noStrike" cap="non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 Việc hiểu rõ 4 cụm khách hàng giúp tối ưu chi phí Marketing.</a:t>
            </a:r>
            <a:endParaRPr/>
          </a:p>
        </p:txBody>
      </p:sp>
      <p:pic>
        <p:nvPicPr>
          <p:cNvPr id="257" name="Google Shape;257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17170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8014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988593"/>
            <a:ext cx="3333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743</Words>
  <Application>Microsoft Office PowerPoint</Application>
  <PresentationFormat>Widescreen</PresentationFormat>
  <Paragraphs>79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Times New Roman</vt:lpstr>
      <vt:lpstr>Roboto Light</vt:lpstr>
      <vt:lpstr>Merriweather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Mối quan hệ mức giảm giá </vt:lpstr>
      <vt:lpstr>PowerPoint Presentation</vt:lpstr>
      <vt:lpstr>PowerPoint Presentation</vt:lpstr>
      <vt:lpstr>Kết quả đánh giá mô hình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Administrator</cp:lastModifiedBy>
  <cp:revision>4</cp:revision>
  <dcterms:modified xsi:type="dcterms:W3CDTF">2026-06-19T14:51:55Z</dcterms:modified>
</cp:coreProperties>
</file>